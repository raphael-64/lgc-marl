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LGC-MARL</a:t>
            </a:r>
          </a:p>
          <a:p>
            <a:pPr algn="ctr">
              <a:defRPr sz="2400">
                <a:solidFill>
                  <a:srgbClr val="646464"/>
                </a:solidFill>
              </a:defRPr>
            </a:pPr>
            <a:r>
              <a:t>LLM-Guided Curriculum Multi-Agent RL for Overcooked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Multi-agent coordination is hard - agents must work together</a:t>
            </a:r>
          </a:p>
          <a:p>
            <a:pPr>
              <a:spcAft>
                <a:spcPts val="1200"/>
              </a:spcAft>
              <a:defRPr sz="2000"/>
            </a:pPr>
            <a:r>
              <a:t>• Manual reward shaping is tedious and domain-specific</a:t>
            </a:r>
          </a:p>
          <a:p>
            <a:pPr>
              <a:spcAft>
                <a:spcPts val="1200"/>
              </a:spcAft>
              <a:defRPr sz="2000"/>
            </a:pPr>
            <a:r>
              <a:t>• How do we discover good coordination strategies automatically?</a:t>
            </a:r>
          </a:p>
          <a:p>
            <a:pPr>
              <a:spcAft>
                <a:spcPts val="1200"/>
              </a:spcAft>
              <a:defRPr sz="2000"/>
            </a:pPr>
            <a:r>
              <a:t>• Training RL is expensive - can't try everything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Our Approach: LGC-MARL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Use LLM to generate task graph candidates (coordination strategies)</a:t>
            </a:r>
          </a:p>
          <a:p>
            <a:pPr>
              <a:spcAft>
                <a:spcPts val="1200"/>
              </a:spcAft>
              <a:defRPr sz="2000"/>
            </a:pPr>
            <a:r>
              <a:t>• Train each candidate with multi-agent PPO</a:t>
            </a:r>
          </a:p>
          <a:p>
            <a:pPr>
              <a:spcAft>
                <a:spcPts val="1200"/>
              </a:spcAft>
              <a:defRPr sz="2000"/>
            </a:pPr>
            <a:r>
              <a:t>• Evaluate and rank by actual performance</a:t>
            </a:r>
          </a:p>
          <a:p>
            <a:pPr>
              <a:spcAft>
                <a:spcPts val="1200"/>
              </a:spcAft>
              <a:defRPr sz="2000"/>
            </a:pPr>
            <a:r>
              <a:t>• Evolve graphs: keep best, crossover, mutate, generate novel</a:t>
            </a:r>
          </a:p>
          <a:p>
            <a:pPr>
              <a:spcAft>
                <a:spcPts val="1200"/>
              </a:spcAft>
              <a:defRPr sz="2000"/>
            </a:pPr>
            <a:r>
              <a:t>• Progressive depth: wide exploration → deep exploitation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Progressive Depth: Wide → Narrow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514600" y="1005840"/>
            <a:ext cx="4114800" cy="3657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03720" y="100584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16 cand × 100 ep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71775" y="1417320"/>
            <a:ext cx="3600450" cy="3657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3720" y="141732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14 cand × 150 ep</a:t>
            </a:r>
          </a:p>
        </p:txBody>
      </p:sp>
      <p:sp>
        <p:nvSpPr>
          <p:cNvPr id="7" name="Rectangle 6"/>
          <p:cNvSpPr/>
          <p:nvPr/>
        </p:nvSpPr>
        <p:spPr>
          <a:xfrm>
            <a:off x="3028950" y="1828800"/>
            <a:ext cx="3086100" cy="365760"/>
          </a:xfrm>
          <a:prstGeom prst="rect">
            <a:avLst/>
          </a:prstGeom>
          <a:solidFill>
            <a:srgbClr val="5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12 cand × 200 ep</a:t>
            </a:r>
          </a:p>
        </p:txBody>
      </p:sp>
      <p:sp>
        <p:nvSpPr>
          <p:cNvPr id="9" name="Rectangle 8"/>
          <p:cNvSpPr/>
          <p:nvPr/>
        </p:nvSpPr>
        <p:spPr>
          <a:xfrm>
            <a:off x="3286125" y="2240280"/>
            <a:ext cx="2571750" cy="365760"/>
          </a:xfrm>
          <a:prstGeom prst="rect">
            <a:avLst/>
          </a:prstGeom>
          <a:solidFill>
            <a:srgbClr val="5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224028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10 cand × 250 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43300" y="2651760"/>
            <a:ext cx="2057400" cy="365760"/>
          </a:xfrm>
          <a:prstGeom prst="rect">
            <a:avLst/>
          </a:prstGeom>
          <a:solidFill>
            <a:srgbClr val="7C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26517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8 cand × 300 ep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00475" y="3063240"/>
            <a:ext cx="1543050" cy="365760"/>
          </a:xfrm>
          <a:prstGeom prst="rect">
            <a:avLst/>
          </a:prstGeom>
          <a:solidFill>
            <a:srgbClr val="9E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306324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6 cand × 400 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29062" y="3474720"/>
            <a:ext cx="1285875" cy="36576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347472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5 cand × 500 ep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7650" y="3886200"/>
            <a:ext cx="1028700" cy="36576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388620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4 cand × 700 ep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86237" y="4297680"/>
            <a:ext cx="771525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429768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3 cand × 1000 ep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4825" y="4709160"/>
            <a:ext cx="514350" cy="36576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47091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2 cand × 1500 ep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43412" y="5120640"/>
            <a:ext cx="257175" cy="365760"/>
          </a:xfrm>
          <a:prstGeom prst="rect">
            <a:avLst/>
          </a:prstGeom>
          <a:solidFill>
            <a:srgbClr val="DB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512064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1 cand × 4000 ep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11887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285F4"/>
                </a:solidFill>
              </a:defRPr>
            </a:pPr>
            <a:r>
              <a:t>EXPLORE</a:t>
            </a:r>
          </a:p>
          <a:p>
            <a:pPr>
              <a:defRPr sz="1200"/>
            </a:pPr>
            <a:r>
              <a:t>Many candidates</a:t>
            </a:r>
          </a:p>
          <a:p>
            <a:pPr>
              <a:defRPr sz="1200"/>
            </a:pPr>
            <a:r>
              <a:t>Shallow 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50292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B4437"/>
                </a:solidFill>
              </a:defRPr>
            </a:pPr>
            <a:r>
              <a:t>EXPLOIT</a:t>
            </a:r>
          </a:p>
          <a:p>
            <a:pPr>
              <a:defRPr sz="1200"/>
            </a:pPr>
            <a:r>
              <a:t>1 champion</a:t>
            </a:r>
          </a:p>
          <a:p>
            <a:pPr>
              <a:defRPr sz="1200"/>
            </a:pPr>
            <a:r>
              <a:t>Deep training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926080"/>
            <a:ext cx="137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Why Progressive Depth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Bad strategies fail fast - visible within 100 episodes</a:t>
            </a:r>
          </a:p>
          <a:p>
            <a:pPr>
              <a:spcAft>
                <a:spcPts val="1200"/>
              </a:spcAft>
              <a:defRPr sz="2000"/>
            </a:pPr>
            <a:r>
              <a:t>• Don't waste compute training obviously bad graphs for 4000 episodes</a:t>
            </a:r>
          </a:p>
          <a:p>
            <a:pPr>
              <a:spcAft>
                <a:spcPts val="1200"/>
              </a:spcAft>
              <a:defRPr sz="2000"/>
            </a:pPr>
            <a:r>
              <a:t>• Naive: 16 × 4000 = 64,000 episodes</a:t>
            </a:r>
          </a:p>
          <a:p>
            <a:pPr>
              <a:spcAft>
                <a:spcPts val="1200"/>
              </a:spcAft>
              <a:defRPr sz="2000"/>
            </a:pPr>
            <a:r>
              <a:t>• Ours: ~29,000 episodes (2x more efficient)</a:t>
            </a:r>
          </a:p>
          <a:p>
            <a:pPr>
              <a:spcAft>
                <a:spcPts val="1200"/>
              </a:spcAft>
              <a:defRPr sz="2000"/>
            </a:pPr>
            <a:r>
              <a:t>• Key insight: eliminate losers early, invest in winners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LLM-Guided Evolution Between Stages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828800" cy="1828800"/>
          </a:xfrm>
          <a:prstGeom prst="roundRect">
            <a:avLst/>
          </a:prstGeom>
          <a:solidFill>
            <a:srgbClr val="4CAF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SURVIVE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2103120"/>
            <a:ext cx="1645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Top performers</a:t>
            </a:r>
            <a:br/>
            <a:r>
              <a:t>pass unchanged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39" y="1371600"/>
            <a:ext cx="1828800" cy="1828800"/>
          </a:xfrm>
          <a:prstGeom prst="roundRect">
            <a:avLst/>
          </a:prstGeom>
          <a:solidFill>
            <a:srgbClr val="2196F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39" y="1554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CROSSOVER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79" y="2103120"/>
            <a:ext cx="1645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Combine best</a:t>
            </a:r>
            <a:br/>
            <a:r>
              <a:t>graphs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371600"/>
            <a:ext cx="1828800" cy="1828800"/>
          </a:xfrm>
          <a:prstGeom prst="roundRect">
            <a:avLst/>
          </a:prstGeom>
          <a:solidFill>
            <a:srgbClr val="FF98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554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MUTATE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103120"/>
            <a:ext cx="1645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LLM tweaks</a:t>
            </a:r>
            <a:br/>
            <a:r>
              <a:t>promising ones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59" y="1371600"/>
            <a:ext cx="1828800" cy="1828800"/>
          </a:xfrm>
          <a:prstGeom prst="roundRect">
            <a:avLst/>
          </a:prstGeom>
          <a:solidFill>
            <a:srgbClr val="9C27B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59" y="1554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NOVEL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9" y="2103120"/>
            <a:ext cx="1645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Fresh ideas</a:t>
            </a:r>
            <a:br/>
            <a:r>
              <a:t>from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Stage N Results → Select Top → Apply Operators → Stage N+1 Candidates</a:t>
            </a:r>
          </a:p>
          <a:p/>
          <a:p>
            <a:pPr algn="ctr">
              <a:defRPr sz="1400">
                <a:solidFill>
                  <a:srgbClr val="646464"/>
                </a:solidFill>
              </a:defRPr>
            </a:pPr>
            <a:r>
              <a:t>Example: 8 candidates → rank by reward → keep top 2 + crossover + 2 mutants + 1 novel → 6 candidates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097280"/>
            <a:ext cx="1828800" cy="914400"/>
          </a:xfrm>
          <a:prstGeom prst="roundRect">
            <a:avLst/>
          </a:prstGeom>
          <a:solidFill>
            <a:srgbClr val="4285F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749039" y="118872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LLM</a:t>
            </a:r>
            <a:br/>
            <a:r>
              <a:t>(GPT)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2286000" cy="1097280"/>
          </a:xfrm>
          <a:prstGeom prst="roundRect">
            <a:avLst/>
          </a:prstGeom>
          <a:solidFill>
            <a:srgbClr val="FBBC0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Task Graph</a:t>
            </a:r>
            <a:br/>
            <a:r>
              <a:t>Candidates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2560320"/>
            <a:ext cx="2286000" cy="1097280"/>
          </a:xfrm>
          <a:prstGeom prst="roundRect">
            <a:avLst/>
          </a:prstGeom>
          <a:solidFill>
            <a:srgbClr val="34A8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39" y="265176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Parallel Training</a:t>
            </a:r>
            <a:br/>
            <a:r>
              <a:t>(Ray Workers)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560320"/>
            <a:ext cx="2286000" cy="1097280"/>
          </a:xfrm>
          <a:prstGeom prst="roundRect">
            <a:avLst/>
          </a:prstGeom>
          <a:solidFill>
            <a:srgbClr val="EA433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65176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Performance</a:t>
            </a:r>
            <a:br/>
            <a:r>
              <a:t>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4389120"/>
            <a:ext cx="2286000" cy="914400"/>
          </a:xfrm>
          <a:prstGeom prst="roundRect">
            <a:avLst/>
          </a:prstGeom>
          <a:solidFill>
            <a:srgbClr val="9C27B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4480559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Evolution &amp;</a:t>
            </a:r>
            <a:br/>
            <a:r>
              <a:t>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0116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017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017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8404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114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Comparison: Baselines vs LGC-MARL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560320" cy="3200400"/>
          </a:xfrm>
          <a:prstGeom prst="roundRect">
            <a:avLst/>
          </a:prstGeom>
          <a:solidFill>
            <a:srgbClr val="E0E0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3774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Baseline PPO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1945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No task structure</a:t>
            </a:r>
          </a:p>
          <a:p>
            <a:pPr>
              <a:spcAft>
                <a:spcPts val="800"/>
              </a:spcAft>
              <a:defRPr sz="1400"/>
            </a:pPr>
            <a:r>
              <a:t>• Agents learn independently</a:t>
            </a:r>
          </a:p>
          <a:p>
            <a:pPr>
              <a:spcAft>
                <a:spcPts val="800"/>
              </a:spcAft>
              <a:defRPr sz="1400"/>
            </a:pPr>
            <a:r>
              <a:t>• No coordination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097280"/>
            <a:ext cx="2560320" cy="3200400"/>
          </a:xfrm>
          <a:prstGeom prst="roundRect">
            <a:avLst/>
          </a:prstGeom>
          <a:solidFill>
            <a:srgbClr val="FFF3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1188720"/>
            <a:ext cx="23774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Static 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828800"/>
            <a:ext cx="21945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Single LLM graph</a:t>
            </a:r>
          </a:p>
          <a:p>
            <a:pPr>
              <a:spcAft>
                <a:spcPts val="800"/>
              </a:spcAft>
              <a:defRPr sz="1400"/>
            </a:pPr>
            <a:r>
              <a:t>• Fixed coordination</a:t>
            </a:r>
          </a:p>
          <a:p>
            <a:pPr>
              <a:spcAft>
                <a:spcPts val="800"/>
              </a:spcAft>
              <a:defRPr sz="1400"/>
            </a:pPr>
            <a:r>
              <a:t>• No adaptation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097280"/>
            <a:ext cx="2560320" cy="3200400"/>
          </a:xfrm>
          <a:prstGeom prst="roundRect">
            <a:avLst/>
          </a:prstGeom>
          <a:solidFill>
            <a:srgbClr val="E8F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79" y="1188720"/>
            <a:ext cx="23774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LGC-MARL (Ours)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828800"/>
            <a:ext cx="21945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Multiple graph candidates</a:t>
            </a:r>
          </a:p>
          <a:p>
            <a:pPr>
              <a:spcAft>
                <a:spcPts val="800"/>
              </a:spcAft>
              <a:defRPr sz="1400"/>
            </a:pPr>
            <a:r>
              <a:t>• LLM evolution</a:t>
            </a:r>
          </a:p>
          <a:p>
            <a:pPr>
              <a:spcAft>
                <a:spcPts val="800"/>
              </a:spcAft>
              <a:defRPr sz="1400"/>
            </a:pPr>
            <a:r>
              <a:t>• Self-improving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/>
            </a:pPr>
            <a:r>
              <a:t>Key insight: LGC-MARL combines LLM reasoning with RL optimization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LGC-MARL achieves X deliveries vs Y baseline</a:t>
            </a:r>
          </a:p>
          <a:p>
            <a:pPr>
              <a:spcAft>
                <a:spcPts val="1200"/>
              </a:spcAft>
              <a:defRPr sz="2000"/>
            </a:pPr>
            <a:r>
              <a:t>• Evolved graphs show emergent coordination patterns</a:t>
            </a:r>
          </a:p>
          <a:p>
            <a:pPr>
              <a:spcAft>
                <a:spcPts val="1200"/>
              </a:spcAft>
              <a:defRPr sz="2000"/>
            </a:pPr>
            <a:r>
              <a:t>• Progressive depth finds good strategies 2x faster</a:t>
            </a:r>
          </a:p>
          <a:p>
            <a:pPr>
              <a:spcAft>
                <a:spcPts val="1200"/>
              </a:spcAft>
              <a:defRPr sz="2000"/>
            </a:pPr>
            <a:r>
              <a:t>• [Add your experimental results here]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